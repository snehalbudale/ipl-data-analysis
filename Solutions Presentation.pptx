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72" r:id="rId4"/>
    <p:sldId id="273" r:id="rId5"/>
    <p:sldId id="274" r:id="rId6"/>
    <p:sldId id="275" r:id="rId7"/>
    <p:sldId id="276" r:id="rId8"/>
    <p:sldId id="277" r:id="rId9"/>
    <p:sldId id="278" r:id="rId10"/>
    <p:sldId id="279" r:id="rId11"/>
  </p:sldIdLst>
  <p:sldSz cx="18288000" cy="10287000"/>
  <p:notesSz cx="7315200" cy="9601200"/>
  <p:embeddedFontLst>
    <p:embeddedFont>
      <p:font typeface="Roboto" panose="02000000000000000000" pitchFamily="2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710" autoAdjust="0"/>
    <p:restoredTop sz="94622" autoAdjust="0"/>
  </p:normalViewPr>
  <p:slideViewPr>
    <p:cSldViewPr>
      <p:cViewPr varScale="1">
        <p:scale>
          <a:sx n="60" d="100"/>
          <a:sy n="60" d="100"/>
        </p:scale>
        <p:origin x="504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666" b="-16666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880278" y="-378097"/>
            <a:ext cx="2302648" cy="7358945"/>
            <a:chOff x="0" y="0"/>
            <a:chExt cx="606459" cy="193815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06459" cy="1938158"/>
            </a:xfrm>
            <a:custGeom>
              <a:avLst/>
              <a:gdLst/>
              <a:ahLst/>
              <a:cxnLst/>
              <a:rect l="l" t="t" r="r" b="b"/>
              <a:pathLst>
                <a:path w="606459" h="1938158">
                  <a:moveTo>
                    <a:pt x="171471" y="0"/>
                  </a:moveTo>
                  <a:lnTo>
                    <a:pt x="434987" y="0"/>
                  </a:lnTo>
                  <a:cubicBezTo>
                    <a:pt x="480464" y="0"/>
                    <a:pt x="524079" y="18066"/>
                    <a:pt x="556236" y="50223"/>
                  </a:cubicBezTo>
                  <a:cubicBezTo>
                    <a:pt x="588393" y="82380"/>
                    <a:pt x="606459" y="125994"/>
                    <a:pt x="606459" y="171471"/>
                  </a:cubicBezTo>
                  <a:lnTo>
                    <a:pt x="606459" y="1766687"/>
                  </a:lnTo>
                  <a:cubicBezTo>
                    <a:pt x="606459" y="1812164"/>
                    <a:pt x="588393" y="1855779"/>
                    <a:pt x="556236" y="1887936"/>
                  </a:cubicBezTo>
                  <a:cubicBezTo>
                    <a:pt x="524079" y="1920093"/>
                    <a:pt x="480464" y="1938158"/>
                    <a:pt x="434987" y="1938158"/>
                  </a:cubicBezTo>
                  <a:lnTo>
                    <a:pt x="171471" y="1938158"/>
                  </a:lnTo>
                  <a:cubicBezTo>
                    <a:pt x="76770" y="1938158"/>
                    <a:pt x="0" y="1861388"/>
                    <a:pt x="0" y="1766687"/>
                  </a:cubicBezTo>
                  <a:lnTo>
                    <a:pt x="0" y="171471"/>
                  </a:lnTo>
                  <a:cubicBezTo>
                    <a:pt x="0" y="125994"/>
                    <a:pt x="18066" y="82380"/>
                    <a:pt x="50223" y="50223"/>
                  </a:cubicBezTo>
                  <a:cubicBezTo>
                    <a:pt x="82380" y="18066"/>
                    <a:pt x="125994" y="0"/>
                    <a:pt x="171471" y="0"/>
                  </a:cubicBezTo>
                  <a:close/>
                </a:path>
              </a:pathLst>
            </a:custGeom>
            <a:solidFill>
              <a:srgbClr val="574874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606459" cy="19857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AutoShape 6"/>
          <p:cNvSpPr/>
          <p:nvPr/>
        </p:nvSpPr>
        <p:spPr>
          <a:xfrm>
            <a:off x="4547280" y="3785262"/>
            <a:ext cx="9092519" cy="13362"/>
          </a:xfrm>
          <a:prstGeom prst="line">
            <a:avLst/>
          </a:prstGeom>
          <a:ln w="76200" cap="flat">
            <a:solidFill>
              <a:srgbClr val="574874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7" name="Group 7"/>
          <p:cNvGrpSpPr/>
          <p:nvPr/>
        </p:nvGrpSpPr>
        <p:grpSpPr>
          <a:xfrm>
            <a:off x="14379513" y="8233036"/>
            <a:ext cx="4823538" cy="4823538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74874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4547281" y="2860226"/>
            <a:ext cx="13512119" cy="8309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5400" dirty="0"/>
              <a:t>Customer &amp; Transaction Analysis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547281" y="1974068"/>
            <a:ext cx="10692719" cy="9383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593"/>
              </a:lnSpc>
            </a:pPr>
            <a:r>
              <a:rPr lang="en-US" sz="6200" b="1" dirty="0"/>
              <a:t>Credit Card Analytics Dashboard</a:t>
            </a:r>
            <a:endParaRPr lang="en-US" sz="6200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4538572" y="4384761"/>
            <a:ext cx="9388735" cy="39395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3200" b="1" dirty="0"/>
              <a:t>Presented by:</a:t>
            </a:r>
            <a:r>
              <a:rPr lang="en-US" sz="3200" dirty="0"/>
              <a:t> Snehal</a:t>
            </a:r>
            <a:br>
              <a:rPr lang="en-US" sz="3200" dirty="0"/>
            </a:br>
            <a:r>
              <a:rPr lang="en-US" sz="3200" b="1" dirty="0"/>
              <a:t>Tools Used:</a:t>
            </a:r>
            <a:r>
              <a:rPr lang="en-US" sz="3200" dirty="0"/>
              <a:t> MS Power BI &amp; MS Excel</a:t>
            </a:r>
          </a:p>
          <a:p>
            <a:endParaRPr lang="en-US" sz="3200" dirty="0"/>
          </a:p>
          <a:p>
            <a:r>
              <a:rPr lang="en-US" sz="3200" b="1" dirty="0"/>
              <a:t>Project Description:</a:t>
            </a:r>
            <a:br>
              <a:rPr lang="en-US" sz="3200" dirty="0"/>
            </a:br>
            <a:r>
              <a:rPr lang="en-US" sz="3200" dirty="0"/>
              <a:t>This project analyzes credit card customer demographics and transaction behavior to identify key revenue drivers, customer segments, and spending patterns that can help financial institutions improve targeting and profitability.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16765156" y="6846531"/>
            <a:ext cx="4823538" cy="4823538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D59">
                <a:alpha val="72941"/>
              </a:srgbClr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666" b="-16666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AutoShape 3"/>
          <p:cNvSpPr/>
          <p:nvPr/>
        </p:nvSpPr>
        <p:spPr>
          <a:xfrm>
            <a:off x="1107009" y="4686300"/>
            <a:ext cx="5604503" cy="11390"/>
          </a:xfrm>
          <a:prstGeom prst="line">
            <a:avLst/>
          </a:prstGeom>
          <a:ln w="76200" cap="flat">
            <a:solidFill>
              <a:srgbClr val="57487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3" name="TextBox 13"/>
          <p:cNvSpPr txBox="1"/>
          <p:nvPr/>
        </p:nvSpPr>
        <p:spPr>
          <a:xfrm>
            <a:off x="4007904" y="1507693"/>
            <a:ext cx="10272191" cy="10687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044"/>
              </a:lnSpc>
            </a:pPr>
            <a:r>
              <a:rPr lang="en-US" sz="6000" b="1" dirty="0">
                <a:latin typeface="+mj-lt"/>
              </a:rPr>
              <a:t>Business Problem &amp; </a:t>
            </a:r>
            <a:r>
              <a:rPr lang="en-US" sz="6000" b="1" dirty="0"/>
              <a:t>Objective</a:t>
            </a:r>
            <a:endParaRPr lang="en-US" sz="6000" b="1" dirty="0">
              <a:latin typeface="+mj-lt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081609" y="4033339"/>
            <a:ext cx="5753100" cy="34470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3200" b="1" dirty="0"/>
              <a:t>Business Problem</a:t>
            </a:r>
          </a:p>
          <a:p>
            <a:br>
              <a:rPr lang="en-US" sz="2400" dirty="0"/>
            </a:br>
            <a:r>
              <a:rPr lang="en-US" sz="2400" b="1" dirty="0"/>
              <a:t>Banks generate large volumes of customer and transaction data but struggle to:</a:t>
            </a:r>
          </a:p>
          <a:p>
            <a:endParaRPr lang="en-US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Identify high-value customers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Understand spending behavior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Optimize card offerings and marketing strategies</a:t>
            </a:r>
          </a:p>
        </p:txBody>
      </p:sp>
      <p:sp>
        <p:nvSpPr>
          <p:cNvPr id="18" name="TextBox 15">
            <a:extLst>
              <a:ext uri="{FF2B5EF4-FFF2-40B4-BE49-F238E27FC236}">
                <a16:creationId xmlns:a16="http://schemas.microsoft.com/office/drawing/2014/main" id="{8259D282-8DC0-F6C6-A078-A92750DE0B83}"/>
              </a:ext>
            </a:extLst>
          </p:cNvPr>
          <p:cNvSpPr txBox="1"/>
          <p:nvPr/>
        </p:nvSpPr>
        <p:spPr>
          <a:xfrm>
            <a:off x="10668000" y="4033339"/>
            <a:ext cx="5753100" cy="35702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3200" b="1" dirty="0"/>
              <a:t>Project Objectives</a:t>
            </a:r>
          </a:p>
          <a:p>
            <a:endParaRPr lang="en-US" sz="3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Analyze customer demographics and income segments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Identify top revenue contributors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Understand spending categories and payment behavior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Provide actionable business insights for decision-making</a:t>
            </a:r>
          </a:p>
        </p:txBody>
      </p:sp>
      <p:sp>
        <p:nvSpPr>
          <p:cNvPr id="20" name="AutoShape 3">
            <a:extLst>
              <a:ext uri="{FF2B5EF4-FFF2-40B4-BE49-F238E27FC236}">
                <a16:creationId xmlns:a16="http://schemas.microsoft.com/office/drawing/2014/main" id="{9E0E2696-B35E-8A18-9E71-5FF3C7E045F5}"/>
              </a:ext>
            </a:extLst>
          </p:cNvPr>
          <p:cNvSpPr/>
          <p:nvPr/>
        </p:nvSpPr>
        <p:spPr>
          <a:xfrm>
            <a:off x="10668000" y="4697690"/>
            <a:ext cx="5526194" cy="11390"/>
          </a:xfrm>
          <a:prstGeom prst="line">
            <a:avLst/>
          </a:prstGeom>
          <a:ln w="76200" cap="flat">
            <a:solidFill>
              <a:srgbClr val="574874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93D7EF-1120-8CC2-578D-694129D14F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6CDB8893-EB37-7876-63DD-56992BBD1690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666" b="-16666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6A0DBF66-E167-BCFA-86C3-7AF6234B014D}"/>
              </a:ext>
            </a:extLst>
          </p:cNvPr>
          <p:cNvSpPr/>
          <p:nvPr/>
        </p:nvSpPr>
        <p:spPr>
          <a:xfrm>
            <a:off x="1107009" y="4686300"/>
            <a:ext cx="5604503" cy="11390"/>
          </a:xfrm>
          <a:prstGeom prst="line">
            <a:avLst/>
          </a:prstGeom>
          <a:ln w="76200" cap="flat">
            <a:solidFill>
              <a:srgbClr val="57487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A30767B5-621C-5B2A-44B9-49E6C56142B7}"/>
              </a:ext>
            </a:extLst>
          </p:cNvPr>
          <p:cNvSpPr txBox="1"/>
          <p:nvPr/>
        </p:nvSpPr>
        <p:spPr>
          <a:xfrm>
            <a:off x="4007904" y="1507693"/>
            <a:ext cx="10272191" cy="10687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044"/>
              </a:lnSpc>
            </a:pPr>
            <a:r>
              <a:rPr lang="en-US" sz="6000" b="1" dirty="0"/>
              <a:t>Dataset Overview</a:t>
            </a:r>
            <a:endParaRPr lang="en-US" sz="6000" b="1" dirty="0">
              <a:latin typeface="+mj-lt"/>
            </a:endParaRP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4311FEA7-715F-3A1C-6744-439AE2088F1F}"/>
              </a:ext>
            </a:extLst>
          </p:cNvPr>
          <p:cNvSpPr txBox="1"/>
          <p:nvPr/>
        </p:nvSpPr>
        <p:spPr>
          <a:xfrm>
            <a:off x="1081609" y="4033339"/>
            <a:ext cx="5753100" cy="23391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3200" b="1" dirty="0"/>
              <a:t>Customer Data</a:t>
            </a:r>
          </a:p>
          <a:p>
            <a:br>
              <a:rPr lang="en-US" sz="2400" dirty="0"/>
            </a:br>
            <a:endParaRPr lang="en-US" sz="2400" b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Age, Gender, Income Group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Job Type, Education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Number of Dependents</a:t>
            </a:r>
          </a:p>
        </p:txBody>
      </p:sp>
      <p:sp>
        <p:nvSpPr>
          <p:cNvPr id="18" name="TextBox 15">
            <a:extLst>
              <a:ext uri="{FF2B5EF4-FFF2-40B4-BE49-F238E27FC236}">
                <a16:creationId xmlns:a16="http://schemas.microsoft.com/office/drawing/2014/main" id="{2107C747-B1DD-62DC-C6AA-6098776D44E2}"/>
              </a:ext>
            </a:extLst>
          </p:cNvPr>
          <p:cNvSpPr txBox="1"/>
          <p:nvPr/>
        </p:nvSpPr>
        <p:spPr>
          <a:xfrm>
            <a:off x="10668000" y="4033339"/>
            <a:ext cx="5753100" cy="28315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3200" b="1" dirty="0"/>
              <a:t>Transaction Data</a:t>
            </a:r>
          </a:p>
          <a:p>
            <a:endParaRPr lang="en-US" sz="32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Transaction Amount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Card Category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Payment Mode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Expenditure Type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Time (Week/Quarter)</a:t>
            </a:r>
          </a:p>
        </p:txBody>
      </p:sp>
      <p:sp>
        <p:nvSpPr>
          <p:cNvPr id="20" name="AutoShape 3">
            <a:extLst>
              <a:ext uri="{FF2B5EF4-FFF2-40B4-BE49-F238E27FC236}">
                <a16:creationId xmlns:a16="http://schemas.microsoft.com/office/drawing/2014/main" id="{33D44727-BFD7-F5D9-C717-C2903E653108}"/>
              </a:ext>
            </a:extLst>
          </p:cNvPr>
          <p:cNvSpPr/>
          <p:nvPr/>
        </p:nvSpPr>
        <p:spPr>
          <a:xfrm>
            <a:off x="10668000" y="4697690"/>
            <a:ext cx="5526194" cy="11390"/>
          </a:xfrm>
          <a:prstGeom prst="line">
            <a:avLst/>
          </a:prstGeom>
          <a:ln w="76200" cap="flat">
            <a:solidFill>
              <a:srgbClr val="574874"/>
            </a:solidFill>
            <a:prstDash val="solid"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886750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4345DE-5002-0333-2E39-0901F9726E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93C72B8-C3C6-B1A3-F413-6E65514033EE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666" b="-16666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BC3BCCD3-893B-6426-00B9-45EBE67D1E9C}"/>
              </a:ext>
            </a:extLst>
          </p:cNvPr>
          <p:cNvSpPr/>
          <p:nvPr/>
        </p:nvSpPr>
        <p:spPr>
          <a:xfrm>
            <a:off x="1107009" y="4686300"/>
            <a:ext cx="5604503" cy="11390"/>
          </a:xfrm>
          <a:prstGeom prst="line">
            <a:avLst/>
          </a:prstGeom>
          <a:ln w="76200" cap="flat">
            <a:solidFill>
              <a:srgbClr val="57487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A957D08C-00DE-1AD3-2994-8C5050299C3C}"/>
              </a:ext>
            </a:extLst>
          </p:cNvPr>
          <p:cNvSpPr txBox="1"/>
          <p:nvPr/>
        </p:nvSpPr>
        <p:spPr>
          <a:xfrm>
            <a:off x="4007904" y="1507693"/>
            <a:ext cx="10272191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6000" b="1" dirty="0"/>
              <a:t>Key Performance Indicators</a:t>
            </a:r>
            <a:endParaRPr lang="en-US" sz="6000" dirty="0"/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A603136F-5ABB-ADCD-56A2-5BF8638C7FCD}"/>
              </a:ext>
            </a:extLst>
          </p:cNvPr>
          <p:cNvSpPr txBox="1"/>
          <p:nvPr/>
        </p:nvSpPr>
        <p:spPr>
          <a:xfrm>
            <a:off x="1081609" y="4033339"/>
            <a:ext cx="5753100" cy="14157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3200" dirty="0"/>
              <a:t>Total Revenue</a:t>
            </a:r>
          </a:p>
          <a:p>
            <a:pPr algn="ctr"/>
            <a:endParaRPr lang="en-US" sz="2000" b="1" dirty="0"/>
          </a:p>
          <a:p>
            <a:pPr algn="ctr"/>
            <a:r>
              <a:rPr lang="en-US" sz="4000" b="1" dirty="0"/>
              <a:t>221M</a:t>
            </a:r>
            <a:endParaRPr lang="en-US" sz="3200" b="1" dirty="0"/>
          </a:p>
        </p:txBody>
      </p:sp>
      <p:sp>
        <p:nvSpPr>
          <p:cNvPr id="18" name="TextBox 15">
            <a:extLst>
              <a:ext uri="{FF2B5EF4-FFF2-40B4-BE49-F238E27FC236}">
                <a16:creationId xmlns:a16="http://schemas.microsoft.com/office/drawing/2014/main" id="{EDB99D27-23E6-226C-7C34-305C2AD75030}"/>
              </a:ext>
            </a:extLst>
          </p:cNvPr>
          <p:cNvSpPr txBox="1"/>
          <p:nvPr/>
        </p:nvSpPr>
        <p:spPr>
          <a:xfrm>
            <a:off x="10668000" y="4033339"/>
            <a:ext cx="5753100" cy="17851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3200" dirty="0"/>
              <a:t>Total Transaction Amount </a:t>
            </a:r>
          </a:p>
          <a:p>
            <a:pPr algn="ctr"/>
            <a:endParaRPr lang="en-US" sz="2000" b="1" dirty="0"/>
          </a:p>
          <a:p>
            <a:pPr algn="ctr"/>
            <a:r>
              <a:rPr lang="en-US" sz="4000" b="1" dirty="0"/>
              <a:t>178.1M</a:t>
            </a:r>
            <a:endParaRPr lang="en-US" sz="2400" dirty="0"/>
          </a:p>
          <a:p>
            <a:pPr algn="ctr"/>
            <a:endParaRPr lang="en-US" sz="2400" dirty="0"/>
          </a:p>
        </p:txBody>
      </p:sp>
      <p:sp>
        <p:nvSpPr>
          <p:cNvPr id="20" name="AutoShape 3">
            <a:extLst>
              <a:ext uri="{FF2B5EF4-FFF2-40B4-BE49-F238E27FC236}">
                <a16:creationId xmlns:a16="http://schemas.microsoft.com/office/drawing/2014/main" id="{71C4F209-5767-2B6B-8A87-6FBF159DBEE7}"/>
              </a:ext>
            </a:extLst>
          </p:cNvPr>
          <p:cNvSpPr/>
          <p:nvPr/>
        </p:nvSpPr>
        <p:spPr>
          <a:xfrm>
            <a:off x="10668000" y="4697690"/>
            <a:ext cx="5526194" cy="11390"/>
          </a:xfrm>
          <a:prstGeom prst="line">
            <a:avLst/>
          </a:prstGeom>
          <a:ln w="76200" cap="flat">
            <a:solidFill>
              <a:srgbClr val="57487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TextBox 15">
            <a:extLst>
              <a:ext uri="{FF2B5EF4-FFF2-40B4-BE49-F238E27FC236}">
                <a16:creationId xmlns:a16="http://schemas.microsoft.com/office/drawing/2014/main" id="{0F4C3AA3-FB66-2EE1-F3FE-B212ACB410E4}"/>
              </a:ext>
            </a:extLst>
          </p:cNvPr>
          <p:cNvSpPr txBox="1"/>
          <p:nvPr/>
        </p:nvSpPr>
        <p:spPr>
          <a:xfrm>
            <a:off x="1081609" y="6822237"/>
            <a:ext cx="5753100" cy="14157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3200" dirty="0"/>
              <a:t>Total Interest Earned</a:t>
            </a:r>
          </a:p>
          <a:p>
            <a:pPr algn="ctr"/>
            <a:endParaRPr lang="en-US" sz="2000" b="1" dirty="0"/>
          </a:p>
          <a:p>
            <a:pPr algn="ctr"/>
            <a:r>
              <a:rPr lang="en-US" sz="4000" b="1" dirty="0"/>
              <a:t>31M</a:t>
            </a:r>
            <a:endParaRPr lang="en-US" sz="4000" dirty="0"/>
          </a:p>
        </p:txBody>
      </p:sp>
      <p:sp>
        <p:nvSpPr>
          <p:cNvPr id="6" name="TextBox 15">
            <a:extLst>
              <a:ext uri="{FF2B5EF4-FFF2-40B4-BE49-F238E27FC236}">
                <a16:creationId xmlns:a16="http://schemas.microsoft.com/office/drawing/2014/main" id="{3642B0FF-BDBE-E229-3BBC-1EAC1D00C4AE}"/>
              </a:ext>
            </a:extLst>
          </p:cNvPr>
          <p:cNvSpPr txBox="1"/>
          <p:nvPr/>
        </p:nvSpPr>
        <p:spPr>
          <a:xfrm>
            <a:off x="10668000" y="6822237"/>
            <a:ext cx="5753100" cy="14157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3200" dirty="0"/>
              <a:t>Total Transactions</a:t>
            </a:r>
          </a:p>
          <a:p>
            <a:pPr algn="ctr"/>
            <a:endParaRPr lang="en-US" sz="2000" b="1" dirty="0"/>
          </a:p>
          <a:p>
            <a:pPr algn="ctr"/>
            <a:r>
              <a:rPr lang="en-US" sz="4000" b="1" dirty="0"/>
              <a:t>2.6M</a:t>
            </a:r>
            <a:endParaRPr lang="en-US" sz="4000" dirty="0"/>
          </a:p>
        </p:txBody>
      </p:sp>
      <p:sp>
        <p:nvSpPr>
          <p:cNvPr id="7" name="AutoShape 3">
            <a:extLst>
              <a:ext uri="{FF2B5EF4-FFF2-40B4-BE49-F238E27FC236}">
                <a16:creationId xmlns:a16="http://schemas.microsoft.com/office/drawing/2014/main" id="{100ABB96-379A-AFEB-D23B-97072BE028BF}"/>
              </a:ext>
            </a:extLst>
          </p:cNvPr>
          <p:cNvSpPr/>
          <p:nvPr/>
        </p:nvSpPr>
        <p:spPr>
          <a:xfrm>
            <a:off x="1081609" y="7518733"/>
            <a:ext cx="5604503" cy="11390"/>
          </a:xfrm>
          <a:prstGeom prst="line">
            <a:avLst/>
          </a:prstGeom>
          <a:ln w="76200" cap="flat">
            <a:solidFill>
              <a:srgbClr val="57487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AutoShape 3">
            <a:extLst>
              <a:ext uri="{FF2B5EF4-FFF2-40B4-BE49-F238E27FC236}">
                <a16:creationId xmlns:a16="http://schemas.microsoft.com/office/drawing/2014/main" id="{6E54947A-F385-E901-103D-484995303887}"/>
              </a:ext>
            </a:extLst>
          </p:cNvPr>
          <p:cNvSpPr/>
          <p:nvPr/>
        </p:nvSpPr>
        <p:spPr>
          <a:xfrm>
            <a:off x="10668000" y="7487955"/>
            <a:ext cx="5604503" cy="11390"/>
          </a:xfrm>
          <a:prstGeom prst="line">
            <a:avLst/>
          </a:prstGeom>
          <a:ln w="76200" cap="flat">
            <a:solidFill>
              <a:srgbClr val="574874"/>
            </a:solidFill>
            <a:prstDash val="solid"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8853255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E14FB8-74DD-BE50-859E-0AAD342907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971C11E-C35F-5147-4435-E09478EECC2D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666" b="-16666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6ED21AAB-F22F-7AB9-3BA3-638A8BED4AE1}"/>
              </a:ext>
            </a:extLst>
          </p:cNvPr>
          <p:cNvSpPr/>
          <p:nvPr/>
        </p:nvSpPr>
        <p:spPr>
          <a:xfrm>
            <a:off x="2057400" y="4381500"/>
            <a:ext cx="11161191" cy="0"/>
          </a:xfrm>
          <a:prstGeom prst="line">
            <a:avLst/>
          </a:prstGeom>
          <a:ln w="76200" cap="flat">
            <a:solidFill>
              <a:srgbClr val="57487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8F70BBBD-B8AF-8C8A-408F-2A17E0BDBD7F}"/>
              </a:ext>
            </a:extLst>
          </p:cNvPr>
          <p:cNvSpPr txBox="1"/>
          <p:nvPr/>
        </p:nvSpPr>
        <p:spPr>
          <a:xfrm>
            <a:off x="4007904" y="1507693"/>
            <a:ext cx="10272191" cy="10687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044"/>
              </a:lnSpc>
            </a:pPr>
            <a:r>
              <a:rPr lang="en-US" sz="6000" b="1" dirty="0"/>
              <a:t>Dashboard Overview</a:t>
            </a:r>
            <a:endParaRPr lang="en-US" sz="6000" b="1" dirty="0">
              <a:latin typeface="+mj-lt"/>
            </a:endParaRP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58A7386C-81F1-781E-0593-DDF2E216E4F4}"/>
              </a:ext>
            </a:extLst>
          </p:cNvPr>
          <p:cNvSpPr txBox="1"/>
          <p:nvPr/>
        </p:nvSpPr>
        <p:spPr>
          <a:xfrm>
            <a:off x="2057400" y="3677123"/>
            <a:ext cx="15112585" cy="55092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3200" b="1" dirty="0"/>
              <a:t>Features</a:t>
            </a:r>
          </a:p>
          <a:p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/>
              <a:t>Interactive filters: </a:t>
            </a:r>
            <a:r>
              <a:rPr lang="en-US" sz="2400" dirty="0"/>
              <a:t>Week, Gender, Quarter, Card Type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/>
              <a:t>Two analytical views: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2400" dirty="0"/>
              <a:t>Customer Insights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2400" dirty="0"/>
              <a:t>Transaction Insights</a:t>
            </a:r>
          </a:p>
          <a:p>
            <a:pPr lvl="1"/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Real-time segmentation and performance tracking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r>
              <a:rPr lang="en-US" sz="3200" b="1" dirty="0"/>
              <a:t>Value</a:t>
            </a:r>
          </a:p>
          <a:p>
            <a:br>
              <a:rPr lang="en-US" dirty="0"/>
            </a:br>
            <a:r>
              <a:rPr lang="en-US" sz="2400" dirty="0"/>
              <a:t>Enables business users to explore revenue trends and customer behavior dynamically.</a:t>
            </a:r>
          </a:p>
          <a:p>
            <a:endParaRPr lang="en-US" sz="2400" dirty="0"/>
          </a:p>
          <a:p>
            <a:endParaRPr lang="en-US" sz="2400" dirty="0"/>
          </a:p>
        </p:txBody>
      </p:sp>
      <p:sp>
        <p:nvSpPr>
          <p:cNvPr id="4" name="AutoShape 3">
            <a:extLst>
              <a:ext uri="{FF2B5EF4-FFF2-40B4-BE49-F238E27FC236}">
                <a16:creationId xmlns:a16="http://schemas.microsoft.com/office/drawing/2014/main" id="{E5D6BE23-0D06-5936-DA32-DBC4F0B7F763}"/>
              </a:ext>
            </a:extLst>
          </p:cNvPr>
          <p:cNvSpPr/>
          <p:nvPr/>
        </p:nvSpPr>
        <p:spPr>
          <a:xfrm flipV="1">
            <a:off x="2057400" y="7886700"/>
            <a:ext cx="11173892" cy="3"/>
          </a:xfrm>
          <a:prstGeom prst="line">
            <a:avLst/>
          </a:prstGeom>
          <a:ln w="76200" cap="flat">
            <a:solidFill>
              <a:srgbClr val="574874"/>
            </a:solidFill>
            <a:prstDash val="solid"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8738618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F0CA97-A814-61DF-3C3F-6F04A45C05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3BE221DC-D577-AAB3-8191-88CF87AD1ACA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666" b="-16666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7D2A97E4-066C-077B-74C4-0DD2BC859137}"/>
              </a:ext>
            </a:extLst>
          </p:cNvPr>
          <p:cNvSpPr/>
          <p:nvPr/>
        </p:nvSpPr>
        <p:spPr>
          <a:xfrm>
            <a:off x="2362200" y="3619500"/>
            <a:ext cx="11161191" cy="0"/>
          </a:xfrm>
          <a:prstGeom prst="line">
            <a:avLst/>
          </a:prstGeom>
          <a:ln w="76200" cap="flat">
            <a:solidFill>
              <a:srgbClr val="57487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AB9AFB6F-A036-47AB-48AE-1746BBD28875}"/>
              </a:ext>
            </a:extLst>
          </p:cNvPr>
          <p:cNvSpPr txBox="1"/>
          <p:nvPr/>
        </p:nvSpPr>
        <p:spPr>
          <a:xfrm>
            <a:off x="4007904" y="1507693"/>
            <a:ext cx="10272191" cy="10687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044"/>
              </a:lnSpc>
            </a:pPr>
            <a:r>
              <a:rPr lang="en-US" sz="6000" b="1" dirty="0"/>
              <a:t>Customer Insights</a:t>
            </a:r>
            <a:endParaRPr lang="en-US" sz="6000" b="1" dirty="0">
              <a:latin typeface="+mj-lt"/>
            </a:endParaRP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43C37889-D525-2FC8-AC0D-055B3464B8ED}"/>
              </a:ext>
            </a:extLst>
          </p:cNvPr>
          <p:cNvSpPr txBox="1"/>
          <p:nvPr/>
        </p:nvSpPr>
        <p:spPr>
          <a:xfrm>
            <a:off x="2362200" y="2933700"/>
            <a:ext cx="15112585" cy="68326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3200" b="1" dirty="0"/>
              <a:t>Revenue by Age</a:t>
            </a:r>
          </a:p>
          <a:p>
            <a:endParaRPr lang="en-US" sz="20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Age group </a:t>
            </a:r>
            <a:r>
              <a:rPr lang="en-US" sz="2400" b="1" dirty="0"/>
              <a:t>40–50</a:t>
            </a:r>
            <a:r>
              <a:rPr lang="en-US" sz="2400" dirty="0"/>
              <a:t> generates the highest revenue (97M)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Followed by 50–60 segment (73M)</a:t>
            </a:r>
          </a:p>
          <a:p>
            <a:endParaRPr lang="en-US" sz="2400" dirty="0"/>
          </a:p>
          <a:p>
            <a:r>
              <a:rPr lang="en-US" sz="3200" b="1" dirty="0"/>
              <a:t>Revenue by Income</a:t>
            </a:r>
          </a:p>
          <a:p>
            <a:endParaRPr lang="en-US" sz="20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High-income customers contribute </a:t>
            </a:r>
            <a:r>
              <a:rPr lang="en-US" sz="2400" b="1" dirty="0"/>
              <a:t>117M</a:t>
            </a:r>
            <a:endParaRPr lang="en-US" sz="24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Middle-income: 63M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Low-income: 41M</a:t>
            </a:r>
          </a:p>
          <a:p>
            <a:endParaRPr lang="en-US" sz="2400" dirty="0"/>
          </a:p>
          <a:p>
            <a:r>
              <a:rPr lang="en-US" sz="3200" b="1" dirty="0"/>
              <a:t>Revenue by Job Type</a:t>
            </a:r>
          </a:p>
          <a:p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Businessman: 70M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White-collar: 40M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Self-employed and Government follow</a:t>
            </a:r>
          </a:p>
          <a:p>
            <a:endParaRPr lang="en-US" sz="2400" dirty="0"/>
          </a:p>
          <a:p>
            <a:endParaRPr lang="en-US" sz="2400" dirty="0"/>
          </a:p>
        </p:txBody>
      </p:sp>
      <p:sp>
        <p:nvSpPr>
          <p:cNvPr id="4" name="AutoShape 3">
            <a:extLst>
              <a:ext uri="{FF2B5EF4-FFF2-40B4-BE49-F238E27FC236}">
                <a16:creationId xmlns:a16="http://schemas.microsoft.com/office/drawing/2014/main" id="{7D77994B-B2FA-9E47-AAA5-12E32C5C6F54}"/>
              </a:ext>
            </a:extLst>
          </p:cNvPr>
          <p:cNvSpPr/>
          <p:nvPr/>
        </p:nvSpPr>
        <p:spPr>
          <a:xfrm flipV="1">
            <a:off x="2362200" y="5510144"/>
            <a:ext cx="11173892" cy="3"/>
          </a:xfrm>
          <a:prstGeom prst="line">
            <a:avLst/>
          </a:prstGeom>
          <a:ln w="76200" cap="flat">
            <a:solidFill>
              <a:srgbClr val="57487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AutoShape 3">
            <a:extLst>
              <a:ext uri="{FF2B5EF4-FFF2-40B4-BE49-F238E27FC236}">
                <a16:creationId xmlns:a16="http://schemas.microsoft.com/office/drawing/2014/main" id="{D00DBDAA-52AC-F57E-E2E4-D6503A216F5D}"/>
              </a:ext>
            </a:extLst>
          </p:cNvPr>
          <p:cNvSpPr/>
          <p:nvPr/>
        </p:nvSpPr>
        <p:spPr>
          <a:xfrm flipV="1">
            <a:off x="2349499" y="7734300"/>
            <a:ext cx="11173892" cy="3"/>
          </a:xfrm>
          <a:prstGeom prst="line">
            <a:avLst/>
          </a:prstGeom>
          <a:ln w="76200" cap="flat">
            <a:solidFill>
              <a:srgbClr val="57487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30170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64292A-6563-EB17-E1ED-2F127ACA39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62E73BA-4240-9CC2-5B8A-E411D7AAD113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666" b="-16666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90E1BB58-2AF1-1A4C-1DD6-4F64538D8FD5}"/>
              </a:ext>
            </a:extLst>
          </p:cNvPr>
          <p:cNvSpPr/>
          <p:nvPr/>
        </p:nvSpPr>
        <p:spPr>
          <a:xfrm>
            <a:off x="2133600" y="3162300"/>
            <a:ext cx="11161191" cy="0"/>
          </a:xfrm>
          <a:prstGeom prst="line">
            <a:avLst/>
          </a:prstGeom>
          <a:ln w="76200" cap="flat">
            <a:solidFill>
              <a:srgbClr val="57487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66D7D1CD-B3CC-8C5C-A860-95434D3FB3F2}"/>
              </a:ext>
            </a:extLst>
          </p:cNvPr>
          <p:cNvSpPr txBox="1"/>
          <p:nvPr/>
        </p:nvSpPr>
        <p:spPr>
          <a:xfrm>
            <a:off x="4007902" y="1071048"/>
            <a:ext cx="10272191" cy="10687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044"/>
              </a:lnSpc>
            </a:pPr>
            <a:r>
              <a:rPr lang="en-US" sz="6000" b="1" dirty="0"/>
              <a:t>Customer Insights</a:t>
            </a:r>
            <a:endParaRPr lang="en-US" sz="6000" b="1" dirty="0">
              <a:latin typeface="+mj-lt"/>
            </a:endParaRP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6FF929AB-A991-B829-B516-EA02897BB636}"/>
              </a:ext>
            </a:extLst>
          </p:cNvPr>
          <p:cNvSpPr txBox="1"/>
          <p:nvPr/>
        </p:nvSpPr>
        <p:spPr>
          <a:xfrm>
            <a:off x="2133600" y="2462516"/>
            <a:ext cx="15112585" cy="68326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3200" b="1" dirty="0"/>
              <a:t>Revenue by Age</a:t>
            </a:r>
          </a:p>
          <a:p>
            <a:endParaRPr lang="en-US" sz="20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Age group </a:t>
            </a:r>
            <a:r>
              <a:rPr lang="en-US" sz="2400" b="1" dirty="0"/>
              <a:t>40–50</a:t>
            </a:r>
            <a:r>
              <a:rPr lang="en-US" sz="2400" dirty="0"/>
              <a:t> generates the highest revenue (97M)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Followed by 50–60 segment (73M)</a:t>
            </a:r>
          </a:p>
          <a:p>
            <a:endParaRPr lang="en-US" sz="2400" dirty="0"/>
          </a:p>
          <a:p>
            <a:r>
              <a:rPr lang="en-US" sz="3200" b="1" dirty="0"/>
              <a:t>Revenue by Income</a:t>
            </a:r>
          </a:p>
          <a:p>
            <a:endParaRPr lang="en-US" sz="20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High-income customers contribute </a:t>
            </a:r>
            <a:r>
              <a:rPr lang="en-US" sz="2400" b="1" dirty="0"/>
              <a:t>117M</a:t>
            </a:r>
            <a:endParaRPr lang="en-US" sz="24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Middle-income: 63M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Low-income: 41M</a:t>
            </a:r>
          </a:p>
          <a:p>
            <a:endParaRPr lang="en-US" sz="2400" dirty="0"/>
          </a:p>
          <a:p>
            <a:r>
              <a:rPr lang="en-US" sz="3200" b="1" dirty="0"/>
              <a:t>Revenue by Job Type</a:t>
            </a:r>
          </a:p>
          <a:p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Businessman: 70M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White-collar: 40M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Self-employed and Government follow</a:t>
            </a:r>
          </a:p>
          <a:p>
            <a:endParaRPr lang="en-US" sz="2400" dirty="0"/>
          </a:p>
          <a:p>
            <a:endParaRPr lang="en-US" sz="2400" dirty="0"/>
          </a:p>
        </p:txBody>
      </p:sp>
      <p:sp>
        <p:nvSpPr>
          <p:cNvPr id="4" name="AutoShape 3">
            <a:extLst>
              <a:ext uri="{FF2B5EF4-FFF2-40B4-BE49-F238E27FC236}">
                <a16:creationId xmlns:a16="http://schemas.microsoft.com/office/drawing/2014/main" id="{8C4B18F9-A2F3-7C20-715F-401BCAC9476F}"/>
              </a:ext>
            </a:extLst>
          </p:cNvPr>
          <p:cNvSpPr/>
          <p:nvPr/>
        </p:nvSpPr>
        <p:spPr>
          <a:xfrm flipV="1">
            <a:off x="2095500" y="4983831"/>
            <a:ext cx="11173892" cy="3"/>
          </a:xfrm>
          <a:prstGeom prst="line">
            <a:avLst/>
          </a:prstGeom>
          <a:ln w="76200" cap="flat">
            <a:solidFill>
              <a:srgbClr val="57487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AutoShape 3">
            <a:extLst>
              <a:ext uri="{FF2B5EF4-FFF2-40B4-BE49-F238E27FC236}">
                <a16:creationId xmlns:a16="http://schemas.microsoft.com/office/drawing/2014/main" id="{AD4902CF-A4FB-31CC-873D-E8951AB3E157}"/>
              </a:ext>
            </a:extLst>
          </p:cNvPr>
          <p:cNvSpPr/>
          <p:nvPr/>
        </p:nvSpPr>
        <p:spPr>
          <a:xfrm flipV="1">
            <a:off x="2133600" y="7277100"/>
            <a:ext cx="11173892" cy="3"/>
          </a:xfrm>
          <a:prstGeom prst="line">
            <a:avLst/>
          </a:prstGeom>
          <a:ln w="76200" cap="flat">
            <a:solidFill>
              <a:srgbClr val="57487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grpSp>
        <p:nvGrpSpPr>
          <p:cNvPr id="6" name="Group 4">
            <a:extLst>
              <a:ext uri="{FF2B5EF4-FFF2-40B4-BE49-F238E27FC236}">
                <a16:creationId xmlns:a16="http://schemas.microsoft.com/office/drawing/2014/main" id="{B049C532-7A61-D140-0B53-C2795ECBA464}"/>
              </a:ext>
            </a:extLst>
          </p:cNvPr>
          <p:cNvGrpSpPr/>
          <p:nvPr/>
        </p:nvGrpSpPr>
        <p:grpSpPr>
          <a:xfrm>
            <a:off x="0" y="8801100"/>
            <a:ext cx="18288000" cy="1485900"/>
            <a:chOff x="0" y="0"/>
            <a:chExt cx="4816593" cy="812800"/>
          </a:xfrm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272D64B9-5260-7E2E-8481-647013F453EF}"/>
                </a:ext>
              </a:extLst>
            </p:cNvPr>
            <p:cNvSpPr/>
            <p:nvPr/>
          </p:nvSpPr>
          <p:spPr>
            <a:xfrm>
              <a:off x="0" y="0"/>
              <a:ext cx="4816592" cy="812800"/>
            </a:xfrm>
            <a:custGeom>
              <a:avLst/>
              <a:gdLst/>
              <a:ahLst/>
              <a:cxnLst/>
              <a:rect l="l" t="t" r="r" b="b"/>
              <a:pathLst>
                <a:path w="4816592" h="812800">
                  <a:moveTo>
                    <a:pt x="0" y="0"/>
                  </a:moveTo>
                  <a:lnTo>
                    <a:pt x="4816592" y="0"/>
                  </a:lnTo>
                  <a:lnTo>
                    <a:pt x="4816592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574874"/>
            </a:solidFill>
          </p:spPr>
        </p:sp>
        <p:sp>
          <p:nvSpPr>
            <p:cNvPr id="8" name="TextBox 6">
              <a:extLst>
                <a:ext uri="{FF2B5EF4-FFF2-40B4-BE49-F238E27FC236}">
                  <a16:creationId xmlns:a16="http://schemas.microsoft.com/office/drawing/2014/main" id="{32279759-21BD-CE6B-1432-2127D2BF78A7}"/>
                </a:ext>
              </a:extLst>
            </p:cNvPr>
            <p:cNvSpPr txBox="1"/>
            <p:nvPr/>
          </p:nvSpPr>
          <p:spPr>
            <a:xfrm>
              <a:off x="0" y="-47625"/>
              <a:ext cx="4816593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F522BA72-F214-7AC2-D786-05357722B531}"/>
              </a:ext>
            </a:extLst>
          </p:cNvPr>
          <p:cNvSpPr txBox="1"/>
          <p:nvPr/>
        </p:nvSpPr>
        <p:spPr>
          <a:xfrm>
            <a:off x="647699" y="9247203"/>
            <a:ext cx="169925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Insight:</a:t>
            </a:r>
            <a:r>
              <a:rPr lang="en-US" sz="3600" dirty="0">
                <a:solidFill>
                  <a:schemeClr val="bg1"/>
                </a:solidFill>
              </a:rPr>
              <a:t> Middle-aged, high-income professionals are the most valuable customer segment.</a:t>
            </a:r>
          </a:p>
        </p:txBody>
      </p:sp>
    </p:spTree>
    <p:extLst>
      <p:ext uri="{BB962C8B-B14F-4D97-AF65-F5344CB8AC3E}">
        <p14:creationId xmlns:p14="http://schemas.microsoft.com/office/powerpoint/2010/main" val="16355953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58B989-9221-D6CA-1A72-224D92ECDB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023CA07-097F-C289-168A-796BED00D943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666" b="-16666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4DD02538-8AAF-C90D-AD75-E2C35C8FEBF7}"/>
              </a:ext>
            </a:extLst>
          </p:cNvPr>
          <p:cNvSpPr/>
          <p:nvPr/>
        </p:nvSpPr>
        <p:spPr>
          <a:xfrm>
            <a:off x="2133600" y="3162300"/>
            <a:ext cx="11161191" cy="0"/>
          </a:xfrm>
          <a:prstGeom prst="line">
            <a:avLst/>
          </a:prstGeom>
          <a:ln w="76200" cap="flat">
            <a:solidFill>
              <a:srgbClr val="57487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85F65456-4731-BBA9-3AEF-BC4824032648}"/>
              </a:ext>
            </a:extLst>
          </p:cNvPr>
          <p:cNvSpPr txBox="1"/>
          <p:nvPr/>
        </p:nvSpPr>
        <p:spPr>
          <a:xfrm>
            <a:off x="3612940" y="888785"/>
            <a:ext cx="12146498" cy="10687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044"/>
              </a:lnSpc>
            </a:pPr>
            <a:r>
              <a:rPr lang="en-US" sz="6000" dirty="0"/>
              <a:t>Demographic &amp; Geographic Trends</a:t>
            </a:r>
            <a:endParaRPr lang="en-US" sz="6000" b="1" dirty="0">
              <a:latin typeface="+mj-lt"/>
            </a:endParaRP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5D20F22B-B68A-D28A-61EE-477F3AECD77B}"/>
              </a:ext>
            </a:extLst>
          </p:cNvPr>
          <p:cNvSpPr txBox="1"/>
          <p:nvPr/>
        </p:nvSpPr>
        <p:spPr>
          <a:xfrm>
            <a:off x="2133600" y="2462516"/>
            <a:ext cx="15112585" cy="64633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3200" b="1" dirty="0">
                <a:latin typeface="+mj-lt"/>
              </a:rPr>
              <a:t>Education Level Contribution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+mj-lt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+mj-lt"/>
              </a:rPr>
              <a:t>Graduates: </a:t>
            </a:r>
            <a:r>
              <a:rPr lang="en-US" altLang="en-US" sz="2400" b="1" dirty="0">
                <a:latin typeface="+mj-lt"/>
              </a:rPr>
              <a:t>89M</a:t>
            </a:r>
            <a:r>
              <a:rPr lang="en-US" altLang="en-US" sz="2400" dirty="0">
                <a:latin typeface="+mj-lt"/>
              </a:rPr>
              <a:t> (highest)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+mj-lt"/>
              </a:rPr>
              <a:t>High School: 44M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+mj-lt"/>
              </a:rPr>
              <a:t>Others contribute moderate revenue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sz="2400" dirty="0">
              <a:latin typeface="+mj-lt"/>
            </a:endParaRPr>
          </a:p>
          <a:p>
            <a:r>
              <a:rPr lang="en-US" sz="3200" b="1" dirty="0">
                <a:latin typeface="+mj-lt"/>
              </a:rPr>
              <a:t>Dependent Analysis</a:t>
            </a:r>
          </a:p>
          <a:p>
            <a:endParaRPr lang="en-US" sz="2000" b="1" dirty="0">
              <a:latin typeface="+mj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Customers with </a:t>
            </a:r>
            <a:r>
              <a:rPr lang="en-US" sz="2400" b="1" dirty="0">
                <a:latin typeface="+mj-lt"/>
              </a:rPr>
              <a:t>2–3 dependents</a:t>
            </a:r>
            <a:r>
              <a:rPr lang="en-US" sz="2400" dirty="0">
                <a:latin typeface="+mj-lt"/>
              </a:rPr>
              <a:t> show higher spending patterns</a:t>
            </a:r>
          </a:p>
          <a:p>
            <a:endParaRPr lang="en-US" sz="2400" dirty="0">
              <a:latin typeface="+mj-lt"/>
            </a:endParaRPr>
          </a:p>
          <a:p>
            <a:r>
              <a:rPr lang="en-US" sz="3200" b="1" dirty="0">
                <a:latin typeface="+mj-lt"/>
              </a:rPr>
              <a:t>Top Performing States</a:t>
            </a:r>
          </a:p>
          <a:p>
            <a:endParaRPr lang="en-US" sz="2000" dirty="0">
              <a:latin typeface="+mj-lt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+mj-lt"/>
              </a:rPr>
              <a:t>Texas (51M)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+mj-lt"/>
              </a:rPr>
              <a:t>New York (51M)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+mj-lt"/>
              </a:rPr>
              <a:t>California (50M)</a:t>
            </a:r>
          </a:p>
          <a:p>
            <a:endParaRPr lang="en-US" sz="2400" dirty="0">
              <a:latin typeface="+mj-lt"/>
            </a:endParaRPr>
          </a:p>
          <a:p>
            <a:endParaRPr lang="en-US" sz="2400" dirty="0">
              <a:latin typeface="+mj-lt"/>
            </a:endParaRPr>
          </a:p>
        </p:txBody>
      </p:sp>
      <p:sp>
        <p:nvSpPr>
          <p:cNvPr id="4" name="AutoShape 3">
            <a:extLst>
              <a:ext uri="{FF2B5EF4-FFF2-40B4-BE49-F238E27FC236}">
                <a16:creationId xmlns:a16="http://schemas.microsoft.com/office/drawing/2014/main" id="{48B06AB8-3D72-3664-2122-E6228356EA85}"/>
              </a:ext>
            </a:extLst>
          </p:cNvPr>
          <p:cNvSpPr/>
          <p:nvPr/>
        </p:nvSpPr>
        <p:spPr>
          <a:xfrm flipV="1">
            <a:off x="2100794" y="5372100"/>
            <a:ext cx="11173892" cy="3"/>
          </a:xfrm>
          <a:prstGeom prst="line">
            <a:avLst/>
          </a:prstGeom>
          <a:ln w="76200" cap="flat">
            <a:solidFill>
              <a:srgbClr val="57487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AutoShape 3">
            <a:extLst>
              <a:ext uri="{FF2B5EF4-FFF2-40B4-BE49-F238E27FC236}">
                <a16:creationId xmlns:a16="http://schemas.microsoft.com/office/drawing/2014/main" id="{21A559AC-598A-7FCE-0F4E-109C86060116}"/>
              </a:ext>
            </a:extLst>
          </p:cNvPr>
          <p:cNvSpPr/>
          <p:nvPr/>
        </p:nvSpPr>
        <p:spPr>
          <a:xfrm flipV="1">
            <a:off x="2133600" y="6903270"/>
            <a:ext cx="11173892" cy="3"/>
          </a:xfrm>
          <a:prstGeom prst="line">
            <a:avLst/>
          </a:prstGeom>
          <a:ln w="76200" cap="flat">
            <a:solidFill>
              <a:srgbClr val="57487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grpSp>
        <p:nvGrpSpPr>
          <p:cNvPr id="6" name="Group 4">
            <a:extLst>
              <a:ext uri="{FF2B5EF4-FFF2-40B4-BE49-F238E27FC236}">
                <a16:creationId xmlns:a16="http://schemas.microsoft.com/office/drawing/2014/main" id="{460EFD4F-6BF2-8883-3988-C38E5EDE6C97}"/>
              </a:ext>
            </a:extLst>
          </p:cNvPr>
          <p:cNvGrpSpPr/>
          <p:nvPr/>
        </p:nvGrpSpPr>
        <p:grpSpPr>
          <a:xfrm>
            <a:off x="0" y="8801100"/>
            <a:ext cx="18288000" cy="1485900"/>
            <a:chOff x="0" y="0"/>
            <a:chExt cx="4816593" cy="812800"/>
          </a:xfrm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34872061-94FB-22EA-A5B9-BEDFDF25139E}"/>
                </a:ext>
              </a:extLst>
            </p:cNvPr>
            <p:cNvSpPr/>
            <p:nvPr/>
          </p:nvSpPr>
          <p:spPr>
            <a:xfrm>
              <a:off x="0" y="0"/>
              <a:ext cx="4816592" cy="812800"/>
            </a:xfrm>
            <a:custGeom>
              <a:avLst/>
              <a:gdLst/>
              <a:ahLst/>
              <a:cxnLst/>
              <a:rect l="l" t="t" r="r" b="b"/>
              <a:pathLst>
                <a:path w="4816592" h="812800">
                  <a:moveTo>
                    <a:pt x="0" y="0"/>
                  </a:moveTo>
                  <a:lnTo>
                    <a:pt x="4816592" y="0"/>
                  </a:lnTo>
                  <a:lnTo>
                    <a:pt x="4816592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574874"/>
            </a:solidFill>
          </p:spPr>
        </p:sp>
        <p:sp>
          <p:nvSpPr>
            <p:cNvPr id="8" name="TextBox 6">
              <a:extLst>
                <a:ext uri="{FF2B5EF4-FFF2-40B4-BE49-F238E27FC236}">
                  <a16:creationId xmlns:a16="http://schemas.microsoft.com/office/drawing/2014/main" id="{0C66A18F-67F3-0B26-7F40-CCDAB0163DE8}"/>
                </a:ext>
              </a:extLst>
            </p:cNvPr>
            <p:cNvSpPr txBox="1"/>
            <p:nvPr/>
          </p:nvSpPr>
          <p:spPr>
            <a:xfrm>
              <a:off x="0" y="-47625"/>
              <a:ext cx="4816593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9DEC71FF-E551-3B0D-C1B5-8D53BC57A42E}"/>
              </a:ext>
            </a:extLst>
          </p:cNvPr>
          <p:cNvSpPr txBox="1"/>
          <p:nvPr/>
        </p:nvSpPr>
        <p:spPr>
          <a:xfrm>
            <a:off x="1586238" y="9166526"/>
            <a:ext cx="161999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bg1"/>
                </a:solidFill>
              </a:rPr>
              <a:t>Insight:</a:t>
            </a:r>
            <a:r>
              <a:rPr lang="en-US" sz="3600" dirty="0">
                <a:solidFill>
                  <a:schemeClr val="bg1"/>
                </a:solidFill>
              </a:rPr>
              <a:t> Educated working professionals in major states drive the majority of revenue.</a:t>
            </a:r>
          </a:p>
        </p:txBody>
      </p:sp>
    </p:spTree>
    <p:extLst>
      <p:ext uri="{BB962C8B-B14F-4D97-AF65-F5344CB8AC3E}">
        <p14:creationId xmlns:p14="http://schemas.microsoft.com/office/powerpoint/2010/main" val="30363174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B1A218-0B4A-1661-A884-C25A2318D2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B401841-EF95-47F8-FE71-E64D64E59027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666" b="-16666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F1AEFB42-C954-2453-98D6-94F7F190C0BA}"/>
              </a:ext>
            </a:extLst>
          </p:cNvPr>
          <p:cNvSpPr/>
          <p:nvPr/>
        </p:nvSpPr>
        <p:spPr>
          <a:xfrm>
            <a:off x="2133601" y="3162300"/>
            <a:ext cx="5638800" cy="0"/>
          </a:xfrm>
          <a:prstGeom prst="line">
            <a:avLst/>
          </a:prstGeom>
          <a:ln w="76200" cap="flat">
            <a:solidFill>
              <a:srgbClr val="57487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7922FEC3-7EDA-C390-1416-903BE44BD1A9}"/>
              </a:ext>
            </a:extLst>
          </p:cNvPr>
          <p:cNvSpPr txBox="1"/>
          <p:nvPr/>
        </p:nvSpPr>
        <p:spPr>
          <a:xfrm>
            <a:off x="3612940" y="888785"/>
            <a:ext cx="12146498" cy="10687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044"/>
              </a:lnSpc>
            </a:pPr>
            <a:r>
              <a:rPr lang="en-US" sz="6000" dirty="0"/>
              <a:t>Transaction &amp; Spending Analysis</a:t>
            </a:r>
            <a:endParaRPr lang="en-US" sz="6000" b="1" dirty="0">
              <a:latin typeface="+mj-lt"/>
            </a:endParaRP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F527AE47-BFAD-D1A5-9B9E-83B6EACE25D8}"/>
              </a:ext>
            </a:extLst>
          </p:cNvPr>
          <p:cNvSpPr txBox="1"/>
          <p:nvPr/>
        </p:nvSpPr>
        <p:spPr>
          <a:xfrm>
            <a:off x="2133601" y="2462516"/>
            <a:ext cx="5943600" cy="44935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3200" b="1" dirty="0"/>
              <a:t>Revenue by Card Type</a:t>
            </a:r>
          </a:p>
          <a:p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Blue Card: </a:t>
            </a:r>
            <a:r>
              <a:rPr lang="en-US" sz="2400" b="1" dirty="0"/>
              <a:t>185M</a:t>
            </a:r>
            <a:r>
              <a:rPr lang="en-US" sz="2400" dirty="0"/>
              <a:t> (major contributor)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Silver: 22M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Gold: 10M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Platinum: 5M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sz="2400" dirty="0">
              <a:latin typeface="+mj-lt"/>
            </a:endParaRPr>
          </a:p>
          <a:p>
            <a:r>
              <a:rPr lang="en-US" sz="3200" b="1" dirty="0"/>
              <a:t>Quarterly Trend</a:t>
            </a:r>
          </a:p>
          <a:p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Highest revenue in </a:t>
            </a:r>
            <a:r>
              <a:rPr lang="en-US" sz="2400" b="1" dirty="0"/>
              <a:t>Q3 (57M)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Slight decline in Q4</a:t>
            </a:r>
          </a:p>
          <a:p>
            <a:endParaRPr lang="en-US" sz="2000" b="1" dirty="0">
              <a:latin typeface="+mj-lt"/>
            </a:endParaRPr>
          </a:p>
        </p:txBody>
      </p:sp>
      <p:sp>
        <p:nvSpPr>
          <p:cNvPr id="4" name="AutoShape 3">
            <a:extLst>
              <a:ext uri="{FF2B5EF4-FFF2-40B4-BE49-F238E27FC236}">
                <a16:creationId xmlns:a16="http://schemas.microsoft.com/office/drawing/2014/main" id="{C91829E9-5D16-16D7-6D43-7B23CA962412}"/>
              </a:ext>
            </a:extLst>
          </p:cNvPr>
          <p:cNvSpPr/>
          <p:nvPr/>
        </p:nvSpPr>
        <p:spPr>
          <a:xfrm flipV="1">
            <a:off x="2133600" y="5711479"/>
            <a:ext cx="5684307" cy="4"/>
          </a:xfrm>
          <a:prstGeom prst="line">
            <a:avLst/>
          </a:prstGeom>
          <a:ln w="76200" cap="flat">
            <a:solidFill>
              <a:srgbClr val="57487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grpSp>
        <p:nvGrpSpPr>
          <p:cNvPr id="6" name="Group 4">
            <a:extLst>
              <a:ext uri="{FF2B5EF4-FFF2-40B4-BE49-F238E27FC236}">
                <a16:creationId xmlns:a16="http://schemas.microsoft.com/office/drawing/2014/main" id="{D89030FA-D9F1-7E70-BF81-F6A5527A3EDA}"/>
              </a:ext>
            </a:extLst>
          </p:cNvPr>
          <p:cNvGrpSpPr/>
          <p:nvPr/>
        </p:nvGrpSpPr>
        <p:grpSpPr>
          <a:xfrm>
            <a:off x="0" y="8801100"/>
            <a:ext cx="18288000" cy="1485900"/>
            <a:chOff x="0" y="0"/>
            <a:chExt cx="4816593" cy="812800"/>
          </a:xfrm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F79CEA5D-E7EC-29C5-5A64-D4752969895D}"/>
                </a:ext>
              </a:extLst>
            </p:cNvPr>
            <p:cNvSpPr/>
            <p:nvPr/>
          </p:nvSpPr>
          <p:spPr>
            <a:xfrm>
              <a:off x="0" y="0"/>
              <a:ext cx="4816592" cy="812800"/>
            </a:xfrm>
            <a:custGeom>
              <a:avLst/>
              <a:gdLst/>
              <a:ahLst/>
              <a:cxnLst/>
              <a:rect l="l" t="t" r="r" b="b"/>
              <a:pathLst>
                <a:path w="4816592" h="812800">
                  <a:moveTo>
                    <a:pt x="0" y="0"/>
                  </a:moveTo>
                  <a:lnTo>
                    <a:pt x="4816592" y="0"/>
                  </a:lnTo>
                  <a:lnTo>
                    <a:pt x="4816592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574874"/>
            </a:solidFill>
          </p:spPr>
        </p:sp>
        <p:sp>
          <p:nvSpPr>
            <p:cNvPr id="8" name="TextBox 6">
              <a:extLst>
                <a:ext uri="{FF2B5EF4-FFF2-40B4-BE49-F238E27FC236}">
                  <a16:creationId xmlns:a16="http://schemas.microsoft.com/office/drawing/2014/main" id="{9BAA27D5-8A01-0728-9498-67BF564F7EBB}"/>
                </a:ext>
              </a:extLst>
            </p:cNvPr>
            <p:cNvSpPr txBox="1"/>
            <p:nvPr/>
          </p:nvSpPr>
          <p:spPr>
            <a:xfrm>
              <a:off x="0" y="-47625"/>
              <a:ext cx="4816593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10D625A1-F8DE-8E4C-8441-27FCF4446C0F}"/>
              </a:ext>
            </a:extLst>
          </p:cNvPr>
          <p:cNvSpPr txBox="1"/>
          <p:nvPr/>
        </p:nvSpPr>
        <p:spPr>
          <a:xfrm>
            <a:off x="1929136" y="9220884"/>
            <a:ext cx="155141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Insight:</a:t>
            </a:r>
            <a:r>
              <a:rPr lang="en-US" sz="3600" dirty="0">
                <a:solidFill>
                  <a:schemeClr val="bg1"/>
                </a:solidFill>
              </a:rPr>
              <a:t> Essential expenses dominate, and physical transactions are still preferred.</a:t>
            </a:r>
          </a:p>
        </p:txBody>
      </p:sp>
      <p:sp>
        <p:nvSpPr>
          <p:cNvPr id="11" name="TextBox 15">
            <a:extLst>
              <a:ext uri="{FF2B5EF4-FFF2-40B4-BE49-F238E27FC236}">
                <a16:creationId xmlns:a16="http://schemas.microsoft.com/office/drawing/2014/main" id="{04ECE481-89D7-5663-3925-E2943E368F3E}"/>
              </a:ext>
            </a:extLst>
          </p:cNvPr>
          <p:cNvSpPr txBox="1"/>
          <p:nvPr/>
        </p:nvSpPr>
        <p:spPr>
          <a:xfrm>
            <a:off x="10744200" y="2462516"/>
            <a:ext cx="5943600" cy="50475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3200" b="1" dirty="0"/>
              <a:t>Expenditure Categories</a:t>
            </a:r>
          </a:p>
          <a:p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Bills: 55M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Entertainment: 38M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Fuel: 37M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Grocery &amp; Food follow</a:t>
            </a:r>
          </a:p>
          <a:p>
            <a:endParaRPr lang="en-US" sz="2400" dirty="0"/>
          </a:p>
          <a:p>
            <a:r>
              <a:rPr lang="en-US" sz="3200" b="1" dirty="0"/>
              <a:t>Payment Mode</a:t>
            </a:r>
          </a:p>
          <a:p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Swipe: 140M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Chip: 68M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Online: 14M</a:t>
            </a:r>
          </a:p>
          <a:p>
            <a:endParaRPr lang="en-US" sz="2000" b="1" dirty="0">
              <a:latin typeface="+mj-lt"/>
            </a:endParaRPr>
          </a:p>
        </p:txBody>
      </p:sp>
      <p:sp>
        <p:nvSpPr>
          <p:cNvPr id="12" name="AutoShape 3">
            <a:extLst>
              <a:ext uri="{FF2B5EF4-FFF2-40B4-BE49-F238E27FC236}">
                <a16:creationId xmlns:a16="http://schemas.microsoft.com/office/drawing/2014/main" id="{3D316B00-7CBF-1729-656A-A4B069AAFA2D}"/>
              </a:ext>
            </a:extLst>
          </p:cNvPr>
          <p:cNvSpPr/>
          <p:nvPr/>
        </p:nvSpPr>
        <p:spPr>
          <a:xfrm flipV="1">
            <a:off x="10744200" y="5675552"/>
            <a:ext cx="5684307" cy="4"/>
          </a:xfrm>
          <a:prstGeom prst="line">
            <a:avLst/>
          </a:prstGeom>
          <a:ln w="76200" cap="flat">
            <a:solidFill>
              <a:srgbClr val="57487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AutoShape 3">
            <a:extLst>
              <a:ext uri="{FF2B5EF4-FFF2-40B4-BE49-F238E27FC236}">
                <a16:creationId xmlns:a16="http://schemas.microsoft.com/office/drawing/2014/main" id="{F4285EFA-2563-1EEE-7B9B-BDA16CC31148}"/>
              </a:ext>
            </a:extLst>
          </p:cNvPr>
          <p:cNvSpPr/>
          <p:nvPr/>
        </p:nvSpPr>
        <p:spPr>
          <a:xfrm flipV="1">
            <a:off x="10744200" y="3161519"/>
            <a:ext cx="5684307" cy="4"/>
          </a:xfrm>
          <a:prstGeom prst="line">
            <a:avLst/>
          </a:prstGeom>
          <a:ln w="76200" cap="flat">
            <a:solidFill>
              <a:srgbClr val="57487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96964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D18E8E-FB63-56A3-897C-C696B39582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29CD91F-27D6-9AC0-813E-27FA29EA2AF8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666" b="-16666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F6BD7EA4-10BF-7875-CBEA-5AECC44C3824}"/>
              </a:ext>
            </a:extLst>
          </p:cNvPr>
          <p:cNvSpPr/>
          <p:nvPr/>
        </p:nvSpPr>
        <p:spPr>
          <a:xfrm>
            <a:off x="2133600" y="3162300"/>
            <a:ext cx="11161191" cy="0"/>
          </a:xfrm>
          <a:prstGeom prst="line">
            <a:avLst/>
          </a:prstGeom>
          <a:ln w="76200" cap="flat">
            <a:solidFill>
              <a:srgbClr val="57487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306814EE-62D9-D21B-8090-9D3BA41D751F}"/>
              </a:ext>
            </a:extLst>
          </p:cNvPr>
          <p:cNvSpPr txBox="1"/>
          <p:nvPr/>
        </p:nvSpPr>
        <p:spPr>
          <a:xfrm>
            <a:off x="1806470" y="747826"/>
            <a:ext cx="14675056" cy="10687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044"/>
              </a:lnSpc>
            </a:pPr>
            <a:r>
              <a:rPr lang="en-US" sz="6000" dirty="0"/>
              <a:t>Key Insights, Recommendations &amp; Conclusion</a:t>
            </a:r>
            <a:endParaRPr lang="en-US" sz="6000" b="1" dirty="0">
              <a:latin typeface="+mj-lt"/>
            </a:endParaRP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ECAEC3B0-DA47-B30E-F795-A6F0B88486DA}"/>
              </a:ext>
            </a:extLst>
          </p:cNvPr>
          <p:cNvSpPr txBox="1"/>
          <p:nvPr/>
        </p:nvSpPr>
        <p:spPr>
          <a:xfrm>
            <a:off x="2133601" y="2462516"/>
            <a:ext cx="11161190" cy="75713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3200" b="1" dirty="0"/>
              <a:t>Key Insights</a:t>
            </a:r>
            <a:endParaRPr lang="en-US" sz="32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/>
              <a:t>Revenue is driven by middle-aged, high-income professionals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/>
              <a:t>Blue card users form the largest revenue base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/>
              <a:t>Spending is concentrated on essential categories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/>
              <a:t>Digital payment adoption is relatively low</a:t>
            </a:r>
          </a:p>
          <a:p>
            <a:endParaRPr lang="en-US" sz="2400" dirty="0">
              <a:latin typeface="+mj-lt"/>
            </a:endParaRPr>
          </a:p>
          <a:p>
            <a:r>
              <a:rPr lang="en-US" sz="3200" b="1" dirty="0"/>
              <a:t>Business Recommendations</a:t>
            </a:r>
          </a:p>
          <a:p>
            <a:endParaRPr lang="en-US" sz="2000" b="1" dirty="0">
              <a:latin typeface="+mj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/>
              <a:t>Upsell Gold/Platinum cards to Blue card users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/>
              <a:t>Target 40–50 age group with personalized offers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/>
              <a:t>Promote online payment incentives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/>
              <a:t>Focus marketing in high-performing states</a:t>
            </a:r>
          </a:p>
          <a:p>
            <a:endParaRPr lang="en-US" sz="2400" dirty="0">
              <a:latin typeface="+mj-lt"/>
            </a:endParaRPr>
          </a:p>
          <a:p>
            <a:r>
              <a:rPr lang="en-US" sz="3200" b="1" dirty="0"/>
              <a:t>Conclusion</a:t>
            </a:r>
          </a:p>
          <a:p>
            <a:endParaRPr lang="en-US" sz="2000" b="1" dirty="0"/>
          </a:p>
          <a:p>
            <a:r>
              <a:rPr lang="en-US" sz="2400" dirty="0"/>
              <a:t>The dashboard enables data-driven decision-making by identifying high-value customers, spending patterns, and growth opportunities for the credit card business.</a:t>
            </a:r>
            <a:br>
              <a:rPr lang="en-US" sz="2400" dirty="0"/>
            </a:br>
            <a:endParaRPr lang="en-US" sz="2400" dirty="0">
              <a:latin typeface="+mj-lt"/>
            </a:endParaRPr>
          </a:p>
          <a:p>
            <a:endParaRPr lang="en-US" sz="2400" dirty="0">
              <a:latin typeface="+mj-lt"/>
            </a:endParaRPr>
          </a:p>
        </p:txBody>
      </p:sp>
      <p:sp>
        <p:nvSpPr>
          <p:cNvPr id="5" name="AutoShape 3">
            <a:extLst>
              <a:ext uri="{FF2B5EF4-FFF2-40B4-BE49-F238E27FC236}">
                <a16:creationId xmlns:a16="http://schemas.microsoft.com/office/drawing/2014/main" id="{8464949B-0D5F-F6B0-C13A-44306746DF63}"/>
              </a:ext>
            </a:extLst>
          </p:cNvPr>
          <p:cNvSpPr/>
          <p:nvPr/>
        </p:nvSpPr>
        <p:spPr>
          <a:xfrm flipV="1">
            <a:off x="2133599" y="5753100"/>
            <a:ext cx="11173892" cy="3"/>
          </a:xfrm>
          <a:prstGeom prst="line">
            <a:avLst/>
          </a:prstGeom>
          <a:ln w="76200" cap="flat">
            <a:solidFill>
              <a:srgbClr val="57487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12" name="AutoShape 3">
            <a:extLst>
              <a:ext uri="{FF2B5EF4-FFF2-40B4-BE49-F238E27FC236}">
                <a16:creationId xmlns:a16="http://schemas.microsoft.com/office/drawing/2014/main" id="{77E20020-0E09-4D0E-B4A4-A112CCC972C5}"/>
              </a:ext>
            </a:extLst>
          </p:cNvPr>
          <p:cNvSpPr/>
          <p:nvPr/>
        </p:nvSpPr>
        <p:spPr>
          <a:xfrm flipV="1">
            <a:off x="2133599" y="8343902"/>
            <a:ext cx="11173892" cy="3"/>
          </a:xfrm>
          <a:prstGeom prst="line">
            <a:avLst/>
          </a:prstGeom>
          <a:ln w="76200" cap="flat">
            <a:solidFill>
              <a:srgbClr val="57487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13085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542</Words>
  <Application>Microsoft Office PowerPoint</Application>
  <PresentationFormat>Custom</PresentationFormat>
  <Paragraphs>152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Roboto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Purple &amp; White Business Professional Presentation</dc:title>
  <cp:lastModifiedBy>Snehal Budale</cp:lastModifiedBy>
  <cp:revision>2</cp:revision>
  <dcterms:created xsi:type="dcterms:W3CDTF">2006-08-16T00:00:00Z</dcterms:created>
  <dcterms:modified xsi:type="dcterms:W3CDTF">2026-02-25T07:50:29Z</dcterms:modified>
  <dc:identifier>DAHCTlvgvgo</dc:identifier>
</cp:coreProperties>
</file>